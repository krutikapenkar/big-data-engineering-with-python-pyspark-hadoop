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FFFFFF"/>
                </a:solidFill>
                <a:latin typeface="Segoe UI"/>
              </a:rPr>
              <a:t>BIG 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D4AA"/>
                </a:solidFill>
                <a:latin typeface="Segoe UI"/>
              </a:rPr>
              <a:t>with Python, PySpark &amp; Hadoop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515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Segoe UI"/>
              </a:rPr>
              <a:t>Module 1  •  Foundations of Big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Session 1.1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8404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Why Big Data?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245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Session 1.2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245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Environment Setup &amp; First PySpark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085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Duration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60857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4 Hours  |  Lecture + Hands-On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926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Target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926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Graduate / Post-Graduate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Batch Year 2025-26  |  Classroom +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WHY BIG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Segoe UI"/>
              </a:rPr>
              <a:t>Every Second, Right Now...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36915"/>
            <a:ext cx="10972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155680" cy="7498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6B35"/>
                </a:solidFill>
                <a:latin typeface="Segoe UI"/>
              </a:rPr>
              <a:t>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100,000 messages 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1155680" cy="749808"/>
          </a:xfrm>
          <a:prstGeom prst="rect">
            <a:avLst/>
          </a:prstGeom>
          <a:solidFill>
            <a:srgbClr val="0F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963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Segoe UI"/>
              </a:rPr>
              <a:t>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500 hours of video uploaded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11155680" cy="7498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192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37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Segoe UI"/>
              </a:rPr>
              <a:t>Amazon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4,000 purchase transactions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11155680" cy="749808"/>
          </a:xfrm>
          <a:prstGeom prst="rect">
            <a:avLst/>
          </a:prstGeom>
          <a:solidFill>
            <a:srgbClr val="0F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422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Segoe UI"/>
              </a:rPr>
              <a:t>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1,000 new photos posted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11155680" cy="74980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65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Segoe UI"/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100,000 search queries answered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60720"/>
            <a:ext cx="11155680" cy="658368"/>
          </a:xfrm>
          <a:prstGeom prst="rect">
            <a:avLst/>
          </a:prstGeom>
          <a:solidFill>
            <a:srgbClr val="1A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833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Segoe UI"/>
              </a:rPr>
              <a:t>→  Where does ALL this data go?  How is it processed so FAST?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What Happens When Data Gets Too Big?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8169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858000" cy="658368"/>
          </a:xfrm>
          <a:prstGeom prst="rect">
            <a:avLst/>
          </a:prstGeom>
          <a:solidFill>
            <a:srgbClr val="0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1 Lakh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910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  <a:latin typeface="Segoe UI"/>
              </a:rPr>
              <a:t>✅ Works perfectly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6858000" cy="658368"/>
          </a:xfrm>
          <a:prstGeom prst="rect">
            <a:avLst/>
          </a:prstGeom>
          <a:solidFill>
            <a:srgbClr val="0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3225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10 Lakh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225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  <a:latin typeface="Segoe UI"/>
              </a:rPr>
              <a:t>✅ Works okay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6858000" cy="658368"/>
          </a:xfrm>
          <a:prstGeom prst="rect">
            <a:avLst/>
          </a:prstGeom>
          <a:solidFill>
            <a:srgbClr val="2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0540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1 Crore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540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600"/>
                </a:solidFill>
                <a:latin typeface="Segoe UI"/>
              </a:rPr>
              <a:t>⚠️  Struggles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6858000" cy="658368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10 Crore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Segoe UI"/>
              </a:rPr>
              <a:t>❌ Crashes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89120"/>
            <a:ext cx="6858000" cy="658368"/>
          </a:xfrm>
          <a:prstGeom prst="rect">
            <a:avLst/>
          </a:prstGeom>
          <a:solidFill>
            <a:srgbClr val="20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5171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100 Crore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5171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4444"/>
                </a:solidFill>
                <a:latin typeface="Segoe UI"/>
              </a:rPr>
              <a:t>💀 Complete 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463040"/>
            <a:ext cx="4114800" cy="3657600"/>
          </a:xfrm>
          <a:prstGeom prst="rect">
            <a:avLst/>
          </a:prstGeom>
          <a:solidFill>
            <a:srgbClr val="1A0808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1600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Real World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05740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  <a:latin typeface="Segoe UI"/>
              </a:rPr>
              <a:t>Flipkart has</a:t>
            </a:r>
          </a:p>
          <a:p>
            <a:pPr algn="l"/>
            <a:r>
              <a:rPr sz="3000" b="1" i="0">
                <a:solidFill>
                  <a:srgbClr val="FF6B35"/>
                </a:solidFill>
                <a:latin typeface="Segoe UI"/>
              </a:rPr>
              <a:t>500 CRORE</a:t>
            </a:r>
          </a:p>
          <a:p>
            <a:pPr algn="l"/>
            <a:r>
              <a:rPr sz="1500" b="0" i="0">
                <a:solidFill>
                  <a:srgbClr val="CCD6E0"/>
                </a:solidFill>
                <a:latin typeface="Segoe UI"/>
              </a:rPr>
              <a:t>transactions/year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→  Single machine = Single point of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31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→  Cannot scale UP forever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60720"/>
            <a:ext cx="11155680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833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Segoe UI"/>
              </a:rPr>
              <a:t>💡  Solution:  Scale OUT — use 100 normal machines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The 5 Vs of Big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66105"/>
            <a:ext cx="109728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084831" cy="457200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084831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27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19019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Segoe UI"/>
              </a:rPr>
              <a:t>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4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How MUCH?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90672"/>
            <a:ext cx="1901951" cy="2286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19019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Flipkart: 500 GB clickstream every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6311" y="1508760"/>
            <a:ext cx="2084831" cy="457200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96311" y="1508760"/>
            <a:ext cx="2084831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87751" y="1627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Segoe UI"/>
              </a:rP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7751" y="2011680"/>
            <a:ext cx="19019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  <a:latin typeface="Segoe UI"/>
              </a:rPr>
              <a:t>VELOCITY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1" y="260604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How FAST?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87751" y="3090672"/>
            <a:ext cx="1901951" cy="2286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1" y="3200400"/>
            <a:ext cx="19019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Swiggy: 10,000 orders/min on IPL nights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18302" y="1508760"/>
            <a:ext cx="2084831" cy="4572000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18302" y="1508760"/>
            <a:ext cx="2084831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9742" y="1627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  <a:latin typeface="Segoe UI"/>
              </a:rPr>
              <a:t>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2" y="2011680"/>
            <a:ext cx="19019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600"/>
                </a:solidFill>
                <a:latin typeface="Segoe UI"/>
              </a:rPr>
              <a:t>VARIETY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2" y="260604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How MANY types?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9742" y="3090672"/>
            <a:ext cx="1901951" cy="2286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9742" y="3200400"/>
            <a:ext cx="19019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CSV, JSON, Images, GPS Logs, Videos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0293" y="1508760"/>
            <a:ext cx="2084831" cy="4572000"/>
          </a:xfrm>
          <a:prstGeom prst="rect">
            <a:avLst/>
          </a:prstGeom>
          <a:solidFill>
            <a:srgbClr val="112D4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0293" y="1508760"/>
            <a:ext cx="2084831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31733" y="1627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86FC"/>
                </a:solidFill>
                <a:latin typeface="Segoe UI"/>
              </a:rPr>
              <a:t>V4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3" y="2011680"/>
            <a:ext cx="19019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86FC"/>
                </a:solidFill>
                <a:latin typeface="Segoe UI"/>
              </a:rPr>
              <a:t>VERACITY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3" y="260604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How TRUSTWORTHY?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31733" y="3090672"/>
            <a:ext cx="1901951" cy="2286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31733" y="3200400"/>
            <a:ext cx="19019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Duplicate GPS pings, missing fields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62284" y="1508760"/>
            <a:ext cx="2084831" cy="4572000"/>
          </a:xfrm>
          <a:prstGeom prst="rect">
            <a:avLst/>
          </a:prstGeom>
          <a:solidFill>
            <a:srgbClr val="112D4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62284" y="1508760"/>
            <a:ext cx="2084831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53724" y="1627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  <a:latin typeface="Segoe UI"/>
              </a:rPr>
              <a:t>V5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4" y="2011680"/>
            <a:ext cx="19019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676"/>
                </a:solidFill>
                <a:latin typeface="Segoe UI"/>
              </a:rPr>
              <a:t>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4" y="260604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What INSIGHT?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53724" y="3090672"/>
            <a:ext cx="1901951" cy="2286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53724" y="3200400"/>
            <a:ext cx="19019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'Customer X will churn next month'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55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D6E0"/>
                </a:solidFill>
                <a:latin typeface="Segoe UI"/>
              </a:rPr>
              <a:t>All 5 Vs together = Big Data Engineering Challenge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4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Why Traditional RDBMS Fails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52038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RDBMS Assumption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00" cy="457200"/>
          </a:xfrm>
          <a:prstGeom prst="rect">
            <a:avLst/>
          </a:prstGeom>
          <a:solidFill>
            <a:srgbClr val="4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Reality at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5486400" cy="6400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29968"/>
            <a:ext cx="5486400" cy="640080"/>
          </a:xfrm>
          <a:prstGeom prst="rect">
            <a:avLst/>
          </a:prstGeom>
          <a:solidFill>
            <a:srgbClr val="2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396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AA"/>
                </a:solidFill>
                <a:latin typeface="Segoe UI"/>
              </a:rPr>
              <a:t>✅  Data fits in 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396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B35"/>
                </a:solidFill>
                <a:latin typeface="Segoe UI"/>
              </a:rPr>
              <a:t>❌  500 GB &gt; your entire 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15768"/>
            <a:ext cx="5486400" cy="64008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715768"/>
            <a:ext cx="5486400" cy="640080"/>
          </a:xfrm>
          <a:prstGeom prst="rect">
            <a:avLst/>
          </a:prstGeom>
          <a:solidFill>
            <a:srgbClr val="18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8254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AA"/>
                </a:solidFill>
                <a:latin typeface="Segoe UI"/>
              </a:rPr>
              <a:t>✅  One server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8254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B35"/>
                </a:solidFill>
                <a:latin typeface="Segoe UI"/>
              </a:rPr>
              <a:t>❌  Server crash = ALL data lost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01568"/>
            <a:ext cx="5486400" cy="6400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401568"/>
            <a:ext cx="5486400" cy="640080"/>
          </a:xfrm>
          <a:prstGeom prst="rect">
            <a:avLst/>
          </a:prstGeom>
          <a:solidFill>
            <a:srgbClr val="2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5112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AA"/>
                </a:solidFill>
                <a:latin typeface="Segoe UI"/>
              </a:rPr>
              <a:t>✅  Data is structured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112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B35"/>
                </a:solidFill>
                <a:latin typeface="Segoe UI"/>
              </a:rPr>
              <a:t>❌  80% of data is unstructured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87368"/>
            <a:ext cx="5486400" cy="64008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4087368"/>
            <a:ext cx="5486400" cy="640080"/>
          </a:xfrm>
          <a:prstGeom prst="rect">
            <a:avLst/>
          </a:prstGeom>
          <a:solidFill>
            <a:srgbClr val="18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1970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AA"/>
                </a:solidFill>
                <a:latin typeface="Segoe UI"/>
              </a:rPr>
              <a:t>✅  Rows arrive slowly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970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B35"/>
                </a:solidFill>
                <a:latin typeface="Segoe UI"/>
              </a:rPr>
              <a:t>❌  Millions of rows per second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73168"/>
            <a:ext cx="5486400" cy="6400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4773168"/>
            <a:ext cx="5486400" cy="640080"/>
          </a:xfrm>
          <a:prstGeom prst="rect">
            <a:avLst/>
          </a:prstGeom>
          <a:solidFill>
            <a:srgbClr val="2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48828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AA"/>
                </a:solidFill>
                <a:latin typeface="Segoe UI"/>
              </a:rPr>
              <a:t>✅  SQL queries are sufficient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828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B35"/>
                </a:solidFill>
                <a:latin typeface="Segoe UI"/>
              </a:rPr>
              <a:t>❌  Need ML, Streaming, Graph 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87568"/>
            <a:ext cx="11155680" cy="804672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806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Segoe UI"/>
              </a:rPr>
              <a:t>✅  RESULT: You need a DISTRIBUTED system  →  Enter: Apache Hadoop &amp; Spark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How Data Processing Evolved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65754"/>
            <a:ext cx="10972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69748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6974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Segoe UI"/>
              </a:rPr>
              <a:t>2000s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Segoe UI"/>
              </a:rPr>
              <a:t>BATCH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578608"/>
            <a:ext cx="2496312" cy="329184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61518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🔧 MapReduce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0175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Process yesterday's data today
Bank generates statement at EOD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D6E0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508760"/>
            <a:ext cx="269748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1508760"/>
            <a:ext cx="269748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55848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Segoe UI"/>
              </a:rPr>
              <a:t>2013+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  <a:latin typeface="Segoe UI"/>
              </a:rPr>
              <a:t>MICRO-BATCH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2578608"/>
            <a:ext cx="2496312" cy="329184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0712" y="261518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🔧 Apache 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30175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Process every few seconds
Fraud alert within 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D6E0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508760"/>
            <a:ext cx="269748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508760"/>
            <a:ext cx="2697480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Segoe UI"/>
              </a:rPr>
              <a:t>2016+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600"/>
                </a:solidFill>
                <a:latin typeface="Segoe UI"/>
              </a:rPr>
              <a:t>REAL-TIME STREAM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578608"/>
            <a:ext cx="2496312" cy="329184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91072" y="261518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🔧 Spark + Kafka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0175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Process as data arrives (ms)
UPI payment approved instantly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D6E0"/>
                </a:solidFill>
                <a:latin typeface="Segoe U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508760"/>
            <a:ext cx="269748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508760"/>
            <a:ext cx="2697480" cy="4114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16568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Segoe UI"/>
              </a:rPr>
              <a:t>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20116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B86FC"/>
                </a:solidFill>
                <a:latin typeface="Segoe UI"/>
              </a:rPr>
              <a:t>LAMBDA/KAPPA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16568" y="2578608"/>
            <a:ext cx="2496312" cy="329184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71432" y="261518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🔧 Delta Lake + Spark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301752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Batch + Streaming together
Enterprise data lakehouse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3093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D6E0"/>
                </a:solidFill>
                <a:latin typeface="Segoe UI"/>
              </a:rPr>
              <a:t>We will build a complete Lambda architecture in Module 6 &amp;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6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816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6B35"/>
                </a:solidFill>
                <a:latin typeface="Segoe UI"/>
              </a:rPr>
              <a:t>SESSION 1.1  |  INDUSTRY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Real-World Big Data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35508"/>
            <a:ext cx="109728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66160" cy="2176272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35661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618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🛒  E-COMMERCE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11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Flipkart / Amazon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13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500M click events/day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715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Recommendation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Cart abandonment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508760"/>
            <a:ext cx="3566160" cy="2176272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80" y="1508760"/>
            <a:ext cx="356616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78808" y="1618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🚗  RIDE-HAILING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011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Uber / 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313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GPS ping every 3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715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Surge pricing in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Driver route optimisation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508760"/>
            <a:ext cx="3566160" cy="2176272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1508760"/>
            <a:ext cx="356616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1618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📱  TELECOM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011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Airtel / Jio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313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400M subscriber CDRs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2715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Churn prediction (MLlib)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Network anomaly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3566160" cy="2176272"/>
          </a:xfrm>
          <a:prstGeom prst="rect">
            <a:avLst/>
          </a:prstGeom>
          <a:solidFill>
            <a:srgbClr val="112D4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840480"/>
            <a:ext cx="3566160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39502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Segoe UI"/>
              </a:rPr>
              <a:t>🏦  BANKING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HDFC / SBI / Paytm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645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Crores of UPI 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047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Fraud detection &lt; 2 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54498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Credit scoring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3840480"/>
            <a:ext cx="3566160" cy="2176272"/>
          </a:xfrm>
          <a:prstGeom prst="rect">
            <a:avLst/>
          </a:prstGeom>
          <a:solidFill>
            <a:srgbClr val="112D4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069080" y="3840480"/>
            <a:ext cx="3566160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78808" y="39502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86FC"/>
                </a:solidFill>
                <a:latin typeface="Segoe UI"/>
              </a:rPr>
              <a:t>🏥  HEALTHCARE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8808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Apollo / AIIMS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8808" y="4645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ICU sensor streams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8808" y="5047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Anomaly alerts (Streaming)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78808" y="54498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Patient risk scoring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3840480"/>
            <a:ext cx="3566160" cy="2176272"/>
          </a:xfrm>
          <a:prstGeom prst="rect">
            <a:avLst/>
          </a:prstGeom>
          <a:solidFill>
            <a:srgbClr val="112D4E"/>
          </a:solidFill>
          <a:ln w="12700">
            <a:solidFill>
              <a:srgbClr val="FF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18120" y="3840480"/>
            <a:ext cx="3566160" cy="64008"/>
          </a:xfrm>
          <a:prstGeom prst="rect">
            <a:avLst/>
          </a:prstGeom>
          <a:solidFill>
            <a:srgbClr val="FF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27848" y="39502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EFF"/>
                </a:solidFill>
                <a:latin typeface="Segoe UI"/>
              </a:rPr>
              <a:t>🏙️  SMART 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Govt / Infosys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645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IoT sensors city-wide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5047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Traffic optimisation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7848" y="54498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Pollution 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7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3246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6B35"/>
                </a:solidFill>
                <a:latin typeface="Segoe UI"/>
              </a:rPr>
              <a:t>SESSION 1.1  |  HADOOP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Segoe UI"/>
              </a:rPr>
              <a:t>Hadoop Ecosystem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V="1">
            <a:off x="502920" y="630936"/>
            <a:ext cx="1097280" cy="49237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589520" cy="109728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STORAGE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HDFS — Hadoop Distributed File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219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Stores files split across 100s of machines. Each file block = 128 MB.
Replication factor = 3 (3 copies for fault tolerance)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589520" cy="109728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Segoe UI"/>
              </a:rPr>
              <a:t>RESOURCE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YARN — Yet Another Resource Negotiator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93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Acts as the cluster OS. Allocates CPU &amp; RAM to jobs.
Decides who runs what, and when.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51960"/>
            <a:ext cx="7589520" cy="1097280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  <a:latin typeface="Segoe UI"/>
              </a:rPr>
              <a:t>COMPUTE /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634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Apache Spark  (replaces MapReduce)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651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Runs distributed computations IN MEMORY.
100x faster than MapReduce. Python support via PySpark.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508760"/>
            <a:ext cx="3429000" cy="4846320"/>
          </a:xfrm>
          <a:prstGeom prst="rect">
            <a:avLst/>
          </a:prstGeom>
          <a:solidFill>
            <a:srgbClr val="112D4E"/>
          </a:solidFill>
          <a:ln w="1270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627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Segoe UI"/>
              </a:rPr>
              <a:t>Ecosystem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57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Hive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057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SQL queries on HDFS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Kafka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Real-time data streaming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788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Sqoop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Import/export from databases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54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Airflow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154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Pipeline scheduling &amp;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20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HBase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NoSQL columnar 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886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Flume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Log data 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51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Segoe UI"/>
              </a:rPr>
              <a:t>MLlib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Distributed machine learning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D4AA"/>
                </a:solidFill>
                <a:latin typeface="Segoe UI"/>
              </a:rPr>
              <a:t>In this course: HDFS + YARN + Spark + Kafka + Delta Lake + Airflow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8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WHY SPARK?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Spark vs Hadoop MapReduce — Why Spark Won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76656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0" y="1508760"/>
            <a:ext cx="3749039" cy="457200"/>
          </a:xfrm>
          <a:prstGeom prst="rect">
            <a:avLst/>
          </a:prstGeom>
          <a:solidFill>
            <a:srgbClr val="3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Segoe UI"/>
              </a:rPr>
              <a:t>Hadoop MapReduce  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08760"/>
            <a:ext cx="4206240" cy="457200"/>
          </a:xfrm>
          <a:prstGeom prst="rect">
            <a:avLst/>
          </a:prstGeom>
          <a:solidFill>
            <a:srgbClr val="05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AA"/>
                </a:solidFill>
                <a:latin typeface="Segoe UI"/>
              </a:rPr>
              <a:t>Apache Spark 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2880360" cy="603504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029968"/>
            <a:ext cx="3749039" cy="603504"/>
          </a:xfrm>
          <a:prstGeom prst="rect">
            <a:avLst/>
          </a:prstGeom>
          <a:solidFill>
            <a:srgbClr val="20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2029968"/>
            <a:ext cx="4206240" cy="603504"/>
          </a:xfrm>
          <a:prstGeom prst="rect">
            <a:avLst/>
          </a:prstGeom>
          <a:solidFill>
            <a:srgbClr val="05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214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2140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Segoe UI"/>
              </a:rPr>
              <a:t>✗  Slow — disk I/O every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2140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Segoe UI"/>
              </a:rPr>
              <a:t>✓  100x faster — in-memory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70048"/>
            <a:ext cx="2880360" cy="603504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2670048"/>
            <a:ext cx="3749039" cy="603504"/>
          </a:xfrm>
          <a:prstGeom prst="rect">
            <a:avLst/>
          </a:prstGeom>
          <a:solidFill>
            <a:srgbClr val="20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2670048"/>
            <a:ext cx="4206240" cy="603504"/>
          </a:xfrm>
          <a:prstGeom prst="rect">
            <a:avLst/>
          </a:prstGeom>
          <a:solidFill>
            <a:srgbClr val="05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76148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76148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Segoe UI"/>
              </a:rPr>
              <a:t>✗  Java only — complex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76148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Segoe UI"/>
              </a:rPr>
              <a:t>✓  Python, Scala, R  — easy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10128"/>
            <a:ext cx="2880360" cy="603504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0" y="3310128"/>
            <a:ext cx="3749039" cy="603504"/>
          </a:xfrm>
          <a:prstGeom prst="rect">
            <a:avLst/>
          </a:prstGeom>
          <a:solidFill>
            <a:srgbClr val="20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3310128"/>
            <a:ext cx="4206240" cy="603504"/>
          </a:xfrm>
          <a:prstGeom prst="rect">
            <a:avLst/>
          </a:prstGeom>
          <a:solidFill>
            <a:srgbClr val="05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40156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Streaming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40156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Segoe UI"/>
              </a:rPr>
              <a:t>✗  Not supported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40156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Segoe UI"/>
              </a:rPr>
              <a:t>✓  Built-in Structured Streaming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50208"/>
            <a:ext cx="2880360" cy="603504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0" y="3950208"/>
            <a:ext cx="3749039" cy="603504"/>
          </a:xfrm>
          <a:prstGeom prst="rect">
            <a:avLst/>
          </a:prstGeom>
          <a:solidFill>
            <a:srgbClr val="20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06640" y="3950208"/>
            <a:ext cx="4206240" cy="603504"/>
          </a:xfrm>
          <a:prstGeom prst="rect">
            <a:avLst/>
          </a:prstGeom>
          <a:solidFill>
            <a:srgbClr val="05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04164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Machine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04164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Segoe UI"/>
              </a:rPr>
              <a:t>✗  Not supported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04164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Segoe UI"/>
              </a:rPr>
              <a:t>✓  Spark MLlib included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90288"/>
            <a:ext cx="2880360" cy="603504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74720" y="4590288"/>
            <a:ext cx="3749039" cy="603504"/>
          </a:xfrm>
          <a:prstGeom prst="rect">
            <a:avLst/>
          </a:prstGeom>
          <a:solidFill>
            <a:srgbClr val="20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06640" y="4590288"/>
            <a:ext cx="4206240" cy="603504"/>
          </a:xfrm>
          <a:prstGeom prst="rect">
            <a:avLst/>
          </a:prstGeom>
          <a:solidFill>
            <a:srgbClr val="05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68172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SQL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6817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Segoe UI"/>
              </a:rPr>
              <a:t>✗  Only via Hive — slow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68172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Segoe UI"/>
              </a:rPr>
              <a:t>✓  Spark SQL — built-in, fast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230368"/>
            <a:ext cx="2880360" cy="603504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0" y="5230368"/>
            <a:ext cx="3749039" cy="603504"/>
          </a:xfrm>
          <a:prstGeom prst="rect">
            <a:avLst/>
          </a:prstGeom>
          <a:solidFill>
            <a:srgbClr val="200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06640" y="5230368"/>
            <a:ext cx="4206240" cy="603504"/>
          </a:xfrm>
          <a:prstGeom prst="rect">
            <a:avLst/>
          </a:prstGeom>
          <a:solidFill>
            <a:srgbClr val="05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3218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  <a:latin typeface="Segoe UI"/>
              </a:rPr>
              <a:t>Industry 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32180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  <a:latin typeface="Segoe UI"/>
              </a:rPr>
              <a:t>✗  Dying — rarely used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32180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Segoe UI"/>
              </a:rPr>
              <a:t>✓  Growing — industry standard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852160"/>
            <a:ext cx="11155680" cy="658368"/>
          </a:xfrm>
          <a:prstGeom prst="rect">
            <a:avLst/>
          </a:prstGeom>
          <a:solidFill>
            <a:srgbClr val="05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  <a:latin typeface="Segoe UI"/>
              </a:rPr>
              <a:t>💡  Netflix: Same ML job — MapReduce: 20 HOURS  →  Spark: 20 MINUTES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9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1.1  | 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Session 1.1 — What We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784"/>
            <a:ext cx="10972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155680" cy="62179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✅  Big Data = 5 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6583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Volume, Velocity, Variety, Veracity,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11155680" cy="62179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212848"/>
            <a:ext cx="54864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3042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✅  RDBMS fails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04288"/>
            <a:ext cx="6583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Single machine limits, no horizontal 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71216"/>
            <a:ext cx="11155680" cy="62179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871216"/>
            <a:ext cx="54864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96265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✅  Distributed computing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962656"/>
            <a:ext cx="6583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100 normal machines &gt; 1 powerful machine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29584"/>
            <a:ext cx="11155680" cy="62179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529584"/>
            <a:ext cx="54864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62102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✅  Hadoop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21024"/>
            <a:ext cx="6583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HDFS (storage) + YARN (resources) + Spark (compute)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87952"/>
            <a:ext cx="11155680" cy="62179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187952"/>
            <a:ext cx="54864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2793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✅  Spark vs MapReduce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279392"/>
            <a:ext cx="6583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In-memory = 100x faster, Python support via PySpark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46320"/>
            <a:ext cx="11155680" cy="62179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846320"/>
            <a:ext cx="54864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49377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✅  Real-world applications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937760"/>
            <a:ext cx="6583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Segoe UI"/>
              </a:rPr>
              <a:t>Flipkart, Uber, Airtel, HDFC — all use this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69280"/>
            <a:ext cx="11155680" cy="822960"/>
          </a:xfrm>
          <a:prstGeom prst="rect">
            <a:avLst/>
          </a:prstGeom>
          <a:solidFill>
            <a:srgbClr val="1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80644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 smtClean="0">
                <a:solidFill>
                  <a:srgbClr val="FFD600"/>
                </a:solidFill>
                <a:latin typeface="Segoe UI"/>
              </a:rPr>
              <a:t>⏸Session </a:t>
            </a:r>
            <a:r>
              <a:rPr sz="1900" b="1" i="0" dirty="0">
                <a:solidFill>
                  <a:srgbClr val="FFD600"/>
                </a:solidFill>
                <a:latin typeface="Segoe UI"/>
              </a:rPr>
              <a:t>1.2: Open your laptops — coding time!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Segoe UI"/>
              </a:rPr>
              <a:t>3 Ways to Run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PySpark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310" y="649224"/>
            <a:ext cx="109728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474720" cy="438912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47472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27632"/>
            <a:ext cx="5029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Segoe UI"/>
              </a:rPr>
              <a:t>Databricks Community Edition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3218688" cy="29260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25856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Segoe UI"/>
              </a:rPr>
              <a:t>RECOMMENDED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Free — no credit card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Real Spark cluster in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Ready in 2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community.cloud.databricks.com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508760"/>
            <a:ext cx="3474720" cy="438912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97096" y="150876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4256" y="1627632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264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Segoe UI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4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Local PySpark + Jupyter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2212848"/>
            <a:ext cx="3218688" cy="29260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98264" y="225856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Requires 8GB+ 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2651760"/>
            <a:ext cx="3218688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2761488"/>
            <a:ext cx="2944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pip install pyspark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4256" y="3154680"/>
            <a:ext cx="3218688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8848" y="3264408"/>
            <a:ext cx="2944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8F8F2"/>
                </a:solidFill>
                <a:latin typeface="Courier New"/>
              </a:rPr>
              <a:t>pip install jupyter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365760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jupyter notebook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6" y="416052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Works fully offline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1272" y="1508760"/>
            <a:ext cx="3474720" cy="4389120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91272" y="1508760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28432" y="1627632"/>
            <a:ext cx="50292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244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Segoe UI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  <a:latin typeface="Segoe UI"/>
              </a:rPr>
              <a:t>Google Colab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2" y="2212848"/>
            <a:ext cx="3218688" cy="292608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225856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Low RAM / No Setup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2" y="265176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colab.research.google.com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2" y="315468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New notebook → first cell: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28432" y="3657600"/>
            <a:ext cx="3218688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024" y="3767328"/>
            <a:ext cx="2944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!pip install pyspark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2" y="416052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▸  Free GPU/TPU available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144768"/>
            <a:ext cx="11155680" cy="4572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61996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  <a:latin typeface="Segoe UI"/>
              </a:rPr>
              <a:t>On Databricks: SparkSession called 'spark' is already created for you automatically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SparkSession — The Entry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8" y="681228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02920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What is SparkSession?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30551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The STARTING POINT of every PySpark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8775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633471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Creates a connection to the Spark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906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1️⃣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136391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Must be created FIRST before any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9359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♻️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639311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.getOrCreate() reuses existing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142231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Replaced SparkContext (old API) in Spark 2.0+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63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  <a:latin typeface="Segoe UI"/>
              </a:rPr>
              <a:t>💡  Analogy: SparkSession = Car ignition key
    Without it, Spark does nothing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508760"/>
            <a:ext cx="603504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1627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Segoe UI"/>
              </a:rPr>
              <a:t>Code: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011680"/>
            <a:ext cx="6035040" cy="283464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25312" y="2121408"/>
            <a:ext cx="57607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C6"/>
                </a:solidFill>
                <a:latin typeface="Courier New"/>
              </a:rPr>
              <a:t>from pyspark.sql import SparkSession</a:t>
            </a:r>
          </a:p>
          <a:p>
            <a:endParaRPr sz="1300">
              <a:solidFill>
                <a:srgbClr val="FF79C6"/>
              </a:solidFill>
              <a:latin typeface="Courier New"/>
            </a:endParaRPr>
          </a:p>
          <a:p>
            <a:r>
              <a:rPr sz="1300">
                <a:solidFill>
                  <a:srgbClr val="50FA7B"/>
                </a:solidFill>
                <a:latin typeface="Courier New"/>
              </a:rPr>
              <a:t>spark = SparkSession.builder \</a:t>
            </a:r>
          </a:p>
          <a:p>
            <a:r>
              <a:rPr sz="1300">
                <a:solidFill>
                  <a:srgbClr val="FFD600"/>
                </a:solidFill>
                <a:latin typeface="Courier New"/>
              </a:rPr>
              <a:t>    .appName("BigDataModule1") \</a:t>
            </a:r>
          </a:p>
          <a:p>
            <a:r>
              <a:rPr sz="1300">
                <a:solidFill>
                  <a:srgbClr val="FFD600"/>
                </a:solidFill>
                <a:latin typeface="Courier New"/>
              </a:rPr>
              <a:t>    .master("local[*]") \</a:t>
            </a:r>
          </a:p>
          <a:p>
            <a:r>
              <a:rPr sz="1300">
                <a:solidFill>
                  <a:srgbClr val="F8F8F2"/>
                </a:solidFill>
                <a:latin typeface="Courier New"/>
              </a:rPr>
              <a:t>    .getOrCreate()</a:t>
            </a:r>
          </a:p>
          <a:p>
            <a:endParaRPr sz="1300">
              <a:solidFill>
                <a:srgbClr val="F8F8F2"/>
              </a:solidFill>
              <a:latin typeface="Courier New"/>
            </a:endParaRPr>
          </a:p>
          <a:p>
            <a:r>
              <a:rPr sz="1300">
                <a:solidFill>
                  <a:srgbClr val="8899AA"/>
                </a:solidFill>
                <a:latin typeface="Courier New"/>
              </a:rPr>
              <a:t># Verify</a:t>
            </a:r>
          </a:p>
          <a:p>
            <a:r>
              <a:rPr sz="1300">
                <a:solidFill>
                  <a:srgbClr val="50FA7B"/>
                </a:solidFill>
                <a:latin typeface="Courier New"/>
              </a:rPr>
              <a:t>print(spark.version)</a:t>
            </a:r>
          </a:p>
          <a:p>
            <a:r>
              <a:rPr sz="1300">
                <a:solidFill>
                  <a:srgbClr val="50FA7B"/>
                </a:solidFill>
                <a:latin typeface="Courier New"/>
              </a:rPr>
              <a:t>print(spark.sparkContext.appName)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  <a:latin typeface="Segoe UI"/>
              </a:rPr>
              <a:t>Expected Output: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5285232"/>
            <a:ext cx="603504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25312" y="53949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3.5.x</a:t>
            </a:r>
          </a:p>
          <a:p>
            <a:r>
              <a:rPr sz="1400">
                <a:solidFill>
                  <a:srgbClr val="F8F8F2"/>
                </a:solidFill>
                <a:latin typeface="Courier New"/>
              </a:rPr>
              <a:t>BigDataModule1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PRACTICAL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Live Coding — Create SparkSession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76656"/>
            <a:ext cx="10972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155680" cy="4251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11155680" cy="4251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618488"/>
            <a:ext cx="108813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899AA"/>
                </a:solidFill>
                <a:latin typeface="Courier New"/>
              </a:rPr>
              <a:t># ── CELL 1: Import and create SparkSession ─────────────────────</a:t>
            </a:r>
          </a:p>
          <a:p>
            <a:r>
              <a:rPr sz="1500">
                <a:solidFill>
                  <a:srgbClr val="FF79C6"/>
                </a:solidFill>
                <a:latin typeface="Courier New"/>
              </a:rPr>
              <a:t>from pyspark.sql import SparkSession</a:t>
            </a:r>
          </a:p>
          <a:p>
            <a:endParaRPr sz="1500">
              <a:solidFill>
                <a:srgbClr val="FF79C6"/>
              </a:solidFill>
              <a:latin typeface="Courier New"/>
            </a:endParaRPr>
          </a:p>
          <a:p>
            <a:r>
              <a:rPr sz="1500">
                <a:solidFill>
                  <a:srgbClr val="50FA7B"/>
                </a:solidFill>
                <a:latin typeface="Courier New"/>
              </a:rPr>
              <a:t>spark = SparkSession.builder \</a:t>
            </a:r>
          </a:p>
          <a:p>
            <a:r>
              <a:rPr sz="1500">
                <a:solidFill>
                  <a:srgbClr val="FFD600"/>
                </a:solidFill>
                <a:latin typeface="Courier New"/>
              </a:rPr>
              <a:t>    .appName("BigDataModule1") \</a:t>
            </a:r>
          </a:p>
          <a:p>
            <a:r>
              <a:rPr sz="1500">
                <a:solidFill>
                  <a:srgbClr val="FFD600"/>
                </a:solidFill>
                <a:latin typeface="Courier New"/>
              </a:rPr>
              <a:t>    .master("local[*]") \       # Use all CPU cores</a:t>
            </a:r>
          </a:p>
          <a:p>
            <a:r>
              <a:rPr sz="1500">
                <a:solidFill>
                  <a:srgbClr val="F8F8F2"/>
                </a:solidFill>
                <a:latin typeface="Courier New"/>
              </a:rPr>
              <a:t>    .getOrCreate()</a:t>
            </a:r>
          </a:p>
          <a:p>
            <a:endParaRPr sz="1500">
              <a:solidFill>
                <a:srgbClr val="F8F8F2"/>
              </a:solidFill>
              <a:latin typeface="Courier New"/>
            </a:endParaRPr>
          </a:p>
          <a:p>
            <a:r>
              <a:rPr sz="1500">
                <a:solidFill>
                  <a:srgbClr val="8899AA"/>
                </a:solidFill>
                <a:latin typeface="Courier New"/>
              </a:rPr>
              <a:t># ── Verify it works ────────────────────────────────────────────</a:t>
            </a:r>
          </a:p>
          <a:p>
            <a:r>
              <a:rPr sz="1500">
                <a:solidFill>
                  <a:srgbClr val="50FA7B"/>
                </a:solidFill>
                <a:latin typeface="Courier New"/>
              </a:rPr>
              <a:t>print('Spark Version :', spark.version)</a:t>
            </a:r>
          </a:p>
          <a:p>
            <a:r>
              <a:rPr sz="1500">
                <a:solidFill>
                  <a:srgbClr val="50FA7B"/>
                </a:solidFill>
                <a:latin typeface="Courier New"/>
              </a:rPr>
              <a:t>print('App Name      :', spark.sparkContext.appName)</a:t>
            </a:r>
          </a:p>
          <a:p>
            <a:r>
              <a:rPr sz="1500">
                <a:solidFill>
                  <a:srgbClr val="50FA7B"/>
                </a:solidFill>
                <a:latin typeface="Courier New"/>
              </a:rPr>
              <a:t>print('Master        :', spark.sparkContext.master)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377440"/>
            <a:ext cx="3657600" cy="822960"/>
          </a:xfrm>
          <a:prstGeom prst="rect">
            <a:avLst/>
          </a:prstGeom>
          <a:solidFill>
            <a:srgbClr val="1A3A5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414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.master('local[*]')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Use ALL CPU cores
on local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291840"/>
            <a:ext cx="3657600" cy="822960"/>
          </a:xfrm>
          <a:prstGeom prst="rect">
            <a:avLst/>
          </a:prstGeom>
          <a:solidFill>
            <a:srgbClr val="1A3A5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328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.getOrCreate()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Create new OR
reuse existing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43600"/>
            <a:ext cx="1115568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  <a:latin typeface="Segoe UI"/>
              </a:rPr>
              <a:t>▶  Run this cell. You should see Spark version printed. Raise hand if error!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PRACTICAL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Live Coding — Read CSV into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9224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029200" cy="438912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Our Dataset: orders.csv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84831"/>
            <a:ext cx="676656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121407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Segoe UI"/>
              </a:rPr>
              <a:t>order_id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3312" y="2084831"/>
            <a:ext cx="82296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9888" y="2121407"/>
            <a:ext cx="768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Segoe UI"/>
              </a:rPr>
              <a:t>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084831"/>
            <a:ext cx="749808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31136" y="2121407"/>
            <a:ext cx="694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Segoe UI"/>
              </a:rPr>
              <a:t>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62656" y="2084831"/>
            <a:ext cx="768096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2121407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Segoe UI"/>
              </a:rPr>
              <a:t>product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084831"/>
            <a:ext cx="64008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5615" y="2121407"/>
            <a:ext cx="58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Segoe UI"/>
              </a:rPr>
              <a:t>amount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084831"/>
            <a:ext cx="73152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3984" y="2121407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Segoe UI"/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404871"/>
            <a:ext cx="676656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2459735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3312" y="2404871"/>
            <a:ext cx="822960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89888" y="2459735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Priya Sharma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404871"/>
            <a:ext cx="749808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31136" y="2459735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Mumbai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2656" y="2404871"/>
            <a:ext cx="768096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9232" y="2459735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Laptop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404871"/>
            <a:ext cx="640080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85615" y="2459735"/>
            <a:ext cx="58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75000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2404871"/>
            <a:ext cx="731520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43984" y="2459735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Delivered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752343"/>
            <a:ext cx="676656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4" y="2807207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53312" y="2752343"/>
            <a:ext cx="822960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89888" y="2807207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Rahul Mehta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2752343"/>
            <a:ext cx="749808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31136" y="2807207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Delhi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62656" y="2752343"/>
            <a:ext cx="768096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99232" y="2807207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Phone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2752343"/>
            <a:ext cx="640080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85615" y="2807207"/>
            <a:ext cx="58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25000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07408" y="2752343"/>
            <a:ext cx="731520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43984" y="2807207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Delivered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099815"/>
            <a:ext cx="676656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" y="3154679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1003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53312" y="3099815"/>
            <a:ext cx="822960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89888" y="3154679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Anita Patel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3099815"/>
            <a:ext cx="749808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31136" y="3154679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Bangalore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62656" y="3099815"/>
            <a:ext cx="768096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99232" y="3154679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Tablet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3099815"/>
            <a:ext cx="640080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85615" y="3154679"/>
            <a:ext cx="58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30000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07408" y="3099815"/>
            <a:ext cx="731520" cy="347472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43984" y="3154679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3447287"/>
            <a:ext cx="676656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4944" y="3502151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53312" y="3447287"/>
            <a:ext cx="822960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89888" y="3502151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...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94560" y="3447287"/>
            <a:ext cx="749808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31136" y="3502151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...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62656" y="3447287"/>
            <a:ext cx="768096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99232" y="3502151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...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49039" y="3447287"/>
            <a:ext cx="640080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785615" y="3502151"/>
            <a:ext cx="58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...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07408" y="3447287"/>
            <a:ext cx="731520" cy="347472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43984" y="3502151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...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4434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  <a:latin typeface="Segoe UI"/>
              </a:rPr>
              <a:t>Indian customers, cities, products
Same code works for 500M rows!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1508760"/>
            <a:ext cx="6035040" cy="43891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25312" y="1618488"/>
            <a:ext cx="5760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899AA"/>
                </a:solidFill>
                <a:latin typeface="Courier New"/>
              </a:rPr>
              <a:t># ── Read CSV → DataFrame ────────────────</a:t>
            </a:r>
          </a:p>
          <a:p>
            <a:r>
              <a:rPr sz="1400">
                <a:solidFill>
                  <a:srgbClr val="50FA7B"/>
                </a:solidFill>
                <a:latin typeface="Courier New"/>
              </a:rPr>
              <a:t>df = spark.read \</a:t>
            </a:r>
          </a:p>
          <a:p>
            <a:r>
              <a:rPr sz="1400">
                <a:solidFill>
                  <a:srgbClr val="FFD600"/>
                </a:solidFill>
                <a:latin typeface="Courier New"/>
              </a:rPr>
              <a:t>    .option("header", True) \</a:t>
            </a:r>
          </a:p>
          <a:p>
            <a:r>
              <a:rPr sz="1400">
                <a:solidFill>
                  <a:srgbClr val="FFD600"/>
                </a:solidFill>
                <a:latin typeface="Courier New"/>
              </a:rPr>
              <a:t>    .option("inferSchema", True) \</a:t>
            </a:r>
          </a:p>
          <a:p>
            <a:r>
              <a:rPr sz="1400">
                <a:solidFill>
                  <a:srgbClr val="FFD600"/>
                </a:solidFill>
                <a:latin typeface="Courier New"/>
              </a:rPr>
              <a:t>    .csv("orders.csv")</a:t>
            </a:r>
          </a:p>
          <a:p>
            <a:endParaRPr sz="1400">
              <a:solidFill>
                <a:srgbClr val="FFD600"/>
              </a:solidFill>
              <a:latin typeface="Courier New"/>
            </a:endParaRPr>
          </a:p>
          <a:p>
            <a:r>
              <a:rPr sz="1400">
                <a:solidFill>
                  <a:srgbClr val="8899AA"/>
                </a:solidFill>
                <a:latin typeface="Courier New"/>
              </a:rPr>
              <a:t># ── Basic exploration ───────────────────</a:t>
            </a:r>
          </a:p>
          <a:p>
            <a:r>
              <a:rPr sz="1400">
                <a:solidFill>
                  <a:srgbClr val="50FA7B"/>
                </a:solidFill>
                <a:latin typeface="Courier New"/>
              </a:rPr>
              <a:t>df.show()          # print all rows</a:t>
            </a:r>
          </a:p>
          <a:p>
            <a:r>
              <a:rPr sz="1400">
                <a:solidFill>
                  <a:srgbClr val="50FA7B"/>
                </a:solidFill>
                <a:latin typeface="Courier New"/>
              </a:rPr>
              <a:t>df.printSchema()   # column data types</a:t>
            </a:r>
          </a:p>
          <a:p>
            <a:r>
              <a:rPr sz="1400">
                <a:solidFill>
                  <a:srgbClr val="50FA7B"/>
                </a:solidFill>
                <a:latin typeface="Courier New"/>
              </a:rPr>
              <a:t>df.count()         # number of rows → 10</a:t>
            </a:r>
          </a:p>
          <a:p>
            <a:r>
              <a:rPr sz="1400">
                <a:solidFill>
                  <a:srgbClr val="50FA7B"/>
                </a:solidFill>
                <a:latin typeface="Courier New"/>
              </a:rPr>
              <a:t>print(df.columns)  # column names list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6080760"/>
            <a:ext cx="11155680" cy="530352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5800" y="6144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inferSchema=True → Spark auto-detects: amount=Integer, name=String. In production: always define schema manually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PRACTICAL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Live Coding — Filter, GroupBy, withColumn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09728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03520" cy="2121408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53035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SELECT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65960"/>
            <a:ext cx="5138928" cy="120700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075688"/>
            <a:ext cx="4864608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df.select("customer_name", "city", "amount").show()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4612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💡  Like SQL SELECT — pick specific 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5303520" cy="2121408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53035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FILTER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65960"/>
            <a:ext cx="5138928" cy="120700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4864608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df.filter(df["status"] == "Delivered").show()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df.filter(df["amount"] &gt; 50000).show()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24612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💡  Like SQL WHERE — keep matching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86200"/>
            <a:ext cx="5303520" cy="2121408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886200"/>
            <a:ext cx="530352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4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GROUPBY aggregate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343400"/>
            <a:ext cx="5138928" cy="120700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4453128"/>
            <a:ext cx="4864608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urier New"/>
              </a:rPr>
              <a:t>df.groupBy("city").sum("amount")</a:t>
            </a:r>
          </a:p>
          <a:p>
            <a:r>
              <a:rPr sz="1200">
                <a:solidFill>
                  <a:srgbClr val="FFD600"/>
                </a:solidFill>
                <a:latin typeface="Courier New"/>
              </a:rPr>
              <a:t>   .orderBy("sum(amount)", ascending=False).show()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562356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💡  Like SQL GROUP BY — city-wise total sales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86200"/>
            <a:ext cx="5303520" cy="2121408"/>
          </a:xfrm>
          <a:prstGeom prst="rect">
            <a:avLst/>
          </a:prstGeom>
          <a:solidFill>
            <a:srgbClr val="112D4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886200"/>
            <a:ext cx="530352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7764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86FC"/>
                </a:solidFill>
                <a:latin typeface="Segoe UI"/>
              </a:rPr>
              <a:t>ADD new column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343400"/>
            <a:ext cx="5138928" cy="120700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453128"/>
            <a:ext cx="4864608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79C6"/>
                </a:solidFill>
                <a:latin typeface="Courier New"/>
              </a:rPr>
              <a:t>from pyspark.sql.functions import when, col</a:t>
            </a:r>
          </a:p>
          <a:p>
            <a:r>
              <a:rPr sz="1200">
                <a:solidFill>
                  <a:srgbClr val="50FA7B"/>
                </a:solidFill>
                <a:latin typeface="Courier New"/>
              </a:rPr>
              <a:t>df.withColumn("category",</a:t>
            </a:r>
          </a:p>
          <a:p>
            <a:r>
              <a:rPr sz="1200">
                <a:solidFill>
                  <a:srgbClr val="FFD600"/>
                </a:solidFill>
                <a:latin typeface="Courier New"/>
              </a:rPr>
              <a:t>   when(col("amount")&gt;=50000,"Premium")</a:t>
            </a:r>
          </a:p>
          <a:p>
            <a:r>
              <a:rPr sz="1200">
                <a:solidFill>
                  <a:srgbClr val="FFD600"/>
                </a:solidFill>
                <a:latin typeface="Courier New"/>
              </a:rPr>
              <a:t>   .when(col("amount")&gt;=20000,"Standard")</a:t>
            </a:r>
          </a:p>
          <a:p>
            <a:r>
              <a:rPr sz="1200">
                <a:solidFill>
                  <a:srgbClr val="FFD600"/>
                </a:solidFill>
                <a:latin typeface="Courier New"/>
              </a:rPr>
              <a:t>   .otherwise("Budget")).show()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562356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  <a:latin typeface="Segoe UI"/>
              </a:rPr>
              <a:t>💡  Add derived columns — category, GST,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SPARK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Spark UI — Your Performance Debugger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62940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  <a:latin typeface="Segoe UI"/>
              </a:rPr>
              <a:t>URL: http://localhost:4040  (local mode)  |  Built-in on Databricks cluster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3566160" cy="182880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35661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📋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Every .show() / .count() / .write() creates 1 Job.
Shows duration, success or failure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920240"/>
            <a:ext cx="3566160" cy="182880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9080" y="1920240"/>
            <a:ext cx="35661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02996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📊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6888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Each job splits into Stages.
Stages are separated by shuffle operations (expensive!).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920240"/>
            <a:ext cx="3566160" cy="1828800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1920240"/>
            <a:ext cx="356616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202996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🔧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46888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Shows DataFrames cached in memory.
.cache() or .persist() puts data in RAM for speed.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3566160" cy="1828800"/>
          </a:xfrm>
          <a:prstGeom prst="rect">
            <a:avLst/>
          </a:prstGeom>
          <a:solidFill>
            <a:srgbClr val="112D4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356616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87367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86FC"/>
                </a:solidFill>
                <a:latin typeface="Segoe UI"/>
              </a:rPr>
              <a:t>⚙️ EXECUTORS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26279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CPU and RAM usage per machine.
Helps identify overloaded nodes.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977639"/>
            <a:ext cx="3566160" cy="1828800"/>
          </a:xfrm>
          <a:prstGeom prst="rect">
            <a:avLst/>
          </a:prstGeom>
          <a:solidFill>
            <a:srgbClr val="112D4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9080" y="3977639"/>
            <a:ext cx="35661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0" y="4087367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Segoe UI"/>
              </a:rPr>
              <a:t>🌍 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526279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All Spark configuration settings.
Memory, cores, shuffle partitions, etc.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977639"/>
            <a:ext cx="3566160" cy="182880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18120" y="3977639"/>
            <a:ext cx="3566160" cy="54864"/>
          </a:xfrm>
          <a:prstGeom prst="rect">
            <a:avLst/>
          </a:prstGeom>
          <a:solidFill>
            <a:srgbClr val="FF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4087367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EFF"/>
                </a:solidFill>
                <a:latin typeface="Segoe UI"/>
              </a:rPr>
              <a:t>🔍 SQL/DAG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4526279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Visual DAG of your query plan.
See exactly how Spark executes your code.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SESSION 1.2  |  KEY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Lazy Evaluation — How Spark Thinks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621792"/>
            <a:ext cx="10972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0352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27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TRANSFORMATIONS  (Lazy)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Spark just builds a PLAN — nothing executes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423160"/>
            <a:ext cx="50292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.select()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898648"/>
            <a:ext cx="50292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008376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.filter()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374136"/>
            <a:ext cx="50292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83864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.groupBy()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849624"/>
            <a:ext cx="50292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59352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.withColumn()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325112"/>
            <a:ext cx="50292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.orderBy()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800600"/>
            <a:ext cx="50292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9103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.join()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508760"/>
            <a:ext cx="5852160" cy="448056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16276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Segoe UI"/>
              </a:rPr>
              <a:t>ACTIONS  (Trigger Execution)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057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NOW Spark actually runs the computation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423160"/>
            <a:ext cx="55778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53288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.show()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2898648"/>
            <a:ext cx="55778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3008376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.count()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3374136"/>
            <a:ext cx="55778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48386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.collect()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3849624"/>
            <a:ext cx="55778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95935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.write()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4325112"/>
            <a:ext cx="55778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4434840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.first()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800600"/>
            <a:ext cx="55778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91032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8F8F2"/>
                </a:solidFill>
                <a:latin typeface="Courier New"/>
              </a:rPr>
              <a:t>.take(n)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3383280"/>
            <a:ext cx="4572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60" y="34015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144768"/>
            <a:ext cx="11475720" cy="530352"/>
          </a:xfrm>
          <a:prstGeom prst="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2179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Segoe UI"/>
              </a:rPr>
              <a:t>💡  Analogy: Transformations = Writing a recipe  |  Actions = Actually cooking the food  |  Laziness lets Spark OPTIMISE the full plan before running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93241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6B35"/>
                </a:solidFill>
                <a:latin typeface="Segoe UI"/>
              </a:rPr>
              <a:t>MODULE 1  |  COMPLETE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Module 1 — What We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9224"/>
            <a:ext cx="10972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94960" cy="4343400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27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📖  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5 Vs of Big Data with real Indian company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514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Why RDBMS breaks at scale — single machine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971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Hadoop Ecosystem — HDFS + YARN + 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429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Spark vs MapReduce — in-memory = 100x faster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86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Lambda/Kappa Architecture evolution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508760"/>
            <a:ext cx="5852160" cy="4343400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Segoe UI"/>
              </a:rPr>
              <a:t>💻  PRACTICAL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057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SparkSession creation and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514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Read CSV → PySpark DataFrame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9718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show(), printSchema(), count(),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429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select(), filter(), groupBy(), withColumn()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8862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Saved enriched data as Parquet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343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Explored Spark UI — Jobs, Stages,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800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✅  Lazy Evaluation — Transformations vs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989320"/>
            <a:ext cx="11475720" cy="658368"/>
          </a:xfrm>
          <a:prstGeom prst="rect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080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  <a:latin typeface="Segoe UI"/>
              </a:rPr>
              <a:t>🚀  NEXT: Module 2 — HDFS &amp; YARN Deep Dive  |  Homework: 4 tasks in your notebook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MODULE 1  | 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Segoe UI"/>
              </a:rPr>
              <a:t>Homework Assignment — 4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9224"/>
            <a:ext cx="109728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475720" cy="1024128"/>
          </a:xfrm>
          <a:prstGeom prst="rect">
            <a:avLst/>
          </a:prstGeom>
          <a:solidFill>
            <a:srgbClr val="05201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54864" cy="10241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618488"/>
            <a:ext cx="1005840" cy="804672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6459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756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  <a:latin typeface="Segoe UI"/>
              </a:rPr>
              <a:t>EASY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6002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Segoe UI"/>
              </a:rPr>
              <a:t>Add 5 more rows to orders.csv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11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Use different Indian cities and products. Run df.count() to confirm total = 15.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06040"/>
            <a:ext cx="11475720" cy="1024128"/>
          </a:xfrm>
          <a:prstGeom prst="rect">
            <a:avLst/>
          </a:prstGeom>
          <a:solidFill>
            <a:srgbClr val="200A02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606040"/>
            <a:ext cx="54864" cy="10241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2715768"/>
            <a:ext cx="1005840" cy="804672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7432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  <a:latin typeface="Segoe U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6974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Segoe UI"/>
              </a:rPr>
              <a:t>Find average amount per product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Which product — Laptop/Phone/Tablet/Watch — has the highest avg price?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11475720" cy="1024128"/>
          </a:xfrm>
          <a:prstGeom prst="rect">
            <a:avLst/>
          </a:prstGeom>
          <a:solidFill>
            <a:srgbClr val="201802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703320"/>
            <a:ext cx="54864" cy="10241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3813048"/>
            <a:ext cx="1005840" cy="804672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38404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600"/>
                </a:solidFill>
                <a:latin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270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600"/>
                </a:solidFill>
                <a:latin typeface="Segoe UI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947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  <a:latin typeface="Segoe UI"/>
              </a:rPr>
              <a:t>Filter: Mumbai OR Bangalore +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Use .filter() with multiple conditions. Hint: use &amp; operator between conditions.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800600"/>
            <a:ext cx="11475720" cy="1024128"/>
          </a:xfrm>
          <a:prstGeom prst="rect">
            <a:avLst/>
          </a:prstGeom>
          <a:solidFill>
            <a:srgbClr val="180828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4800600"/>
            <a:ext cx="54864" cy="102412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5488" y="4910328"/>
            <a:ext cx="1005840" cy="804672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9377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B86FC"/>
                </a:solidFill>
                <a:latin typeface="Segoe U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367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86FC"/>
                </a:solidFill>
                <a:latin typeface="Segoe UI"/>
              </a:rPr>
              <a:t>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8920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B86FC"/>
                </a:solidFill>
                <a:latin typeface="Segoe UI"/>
              </a:rPr>
              <a:t>Add discount_amount column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303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Premium → 10% off | Standard → 5% off | Budget → 0%. Calculate final price.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43600"/>
            <a:ext cx="11475720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0533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600"/>
                </a:solidFill>
                <a:latin typeface="Segoe UI"/>
              </a:rPr>
              <a:t>📤  Submit: .ipynb notebook file  |  Deadline: Before Module 2 session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19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926080" cy="34747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MODULE 1  | 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PySpark Quick Reference — Module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097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53949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CREATE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29384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039112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spark = SparkSession.builder.appName("X").getOrCreate()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508760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508760"/>
            <a:ext cx="53949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9048" y="1600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Segoe UI"/>
              </a:rPr>
              <a:t>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929384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039112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 = spark.read.option("header",True).csv("file.csv")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249424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2359152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 = spark.read.parquet("folder/")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42616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642616"/>
            <a:ext cx="539496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" y="27340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Segoe UI"/>
              </a:rPr>
              <a:t>EXPLORE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63240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3172968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df.show()  |  df.printSchema()  |  df.count()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83280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3493008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df.columns  |  df.describe().show()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642616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2642616"/>
            <a:ext cx="539496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9048" y="27340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Segoe UI"/>
              </a:rPr>
              <a:t>SELECT &amp; FILTER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063240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5352" y="3172968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df.select("col1","col2")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383280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5352" y="3493008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df.filter(df["col"] == "val")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76472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3776472"/>
            <a:ext cx="53949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" y="38679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Segoe UI"/>
              </a:rPr>
              <a:t>AGGREGATE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197096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4306824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df.groupBy("city").sum("amount")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517136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072" y="4626864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df.groupBy("col").count()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776472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FF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89320" y="3776472"/>
            <a:ext cx="5394960" cy="54864"/>
          </a:xfrm>
          <a:prstGeom prst="rect">
            <a:avLst/>
          </a:prstGeom>
          <a:solidFill>
            <a:srgbClr val="FF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99048" y="38679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EFF"/>
                </a:solidFill>
                <a:latin typeface="Segoe UI"/>
              </a:rPr>
              <a:t>TRANSFORM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197096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45352" y="4306824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df.withColumn("new", col("old")*2)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4517136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45352" y="4626864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df.withColumnRenamed("old","new")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910328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" y="4910328"/>
            <a:ext cx="53949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" y="50017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SAVE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330952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5440680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df.write.mode("overwrite").parquet("out/")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650992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" y="5760720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df.write.mode("append").csv("out/")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910328"/>
            <a:ext cx="5394960" cy="1024128"/>
          </a:xfrm>
          <a:prstGeom prst="rect">
            <a:avLst/>
          </a:prstGeom>
          <a:solidFill>
            <a:srgbClr val="112D4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989320" y="4910328"/>
            <a:ext cx="53949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9048" y="50017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Segoe UI"/>
              </a:rPr>
              <a:t>SQL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5330952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5352" y="5440680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df.createOrReplaceTempView("t")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5650992"/>
            <a:ext cx="5230368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5352" y="5760720"/>
            <a:ext cx="4956048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0FA7B"/>
                </a:solidFill>
                <a:latin typeface="Courier New"/>
              </a:rPr>
              <a:t>spark.sql("SELECT * FROM t").show()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0"/>
                </a:solidFill>
                <a:latin typeface="Segoe UI"/>
              </a:rPr>
              <a:t>20 /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2085</Words>
  <Application>Microsoft Office PowerPoint</Application>
  <PresentationFormat>Custom</PresentationFormat>
  <Paragraphs>459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8</cp:revision>
  <dcterms:created xsi:type="dcterms:W3CDTF">2013-01-27T09:14:16Z</dcterms:created>
  <dcterms:modified xsi:type="dcterms:W3CDTF">2026-07-05T10:26:16Z</dcterms:modified>
  <cp:category/>
</cp:coreProperties>
</file>